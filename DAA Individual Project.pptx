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elvetica World" charset="1" panose="020B0500040000020004"/>
      <p:regular r:id="rId14"/>
    </p:embeddedFon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6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23740" y="1472267"/>
            <a:ext cx="9913688" cy="9913688"/>
          </a:xfrm>
          <a:custGeom>
            <a:avLst/>
            <a:gdLst/>
            <a:ahLst/>
            <a:cxnLst/>
            <a:rect r="r" b="b" t="t" l="l"/>
            <a:pathLst>
              <a:path h="9913688" w="9913688">
                <a:moveTo>
                  <a:pt x="0" y="0"/>
                </a:moveTo>
                <a:lnTo>
                  <a:pt x="9913688" y="0"/>
                </a:lnTo>
                <a:lnTo>
                  <a:pt x="9913688" y="9913687"/>
                </a:lnTo>
                <a:lnTo>
                  <a:pt x="0" y="99136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70823" y="513381"/>
            <a:ext cx="8744919" cy="8744919"/>
          </a:xfrm>
          <a:custGeom>
            <a:avLst/>
            <a:gdLst/>
            <a:ahLst/>
            <a:cxnLst/>
            <a:rect r="r" b="b" t="t" l="l"/>
            <a:pathLst>
              <a:path h="8744919" w="8744919">
                <a:moveTo>
                  <a:pt x="0" y="0"/>
                </a:moveTo>
                <a:lnTo>
                  <a:pt x="8744919" y="0"/>
                </a:lnTo>
                <a:lnTo>
                  <a:pt x="8744919" y="8744919"/>
                </a:lnTo>
                <a:lnTo>
                  <a:pt x="0" y="8744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201527" y="2317418"/>
            <a:ext cx="15884946" cy="411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Implementation of Activity Selection Problem</a:t>
            </a:r>
          </a:p>
          <a:p>
            <a:pPr algn="ctr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Using Greedy Method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5761248" cy="2958604"/>
          </a:xfrm>
          <a:custGeom>
            <a:avLst/>
            <a:gdLst/>
            <a:ahLst/>
            <a:cxnLst/>
            <a:rect r="r" b="b" t="t" l="l"/>
            <a:pathLst>
              <a:path h="2958604" w="5761248">
                <a:moveTo>
                  <a:pt x="0" y="0"/>
                </a:moveTo>
                <a:lnTo>
                  <a:pt x="5761248" y="0"/>
                </a:lnTo>
                <a:lnTo>
                  <a:pt x="5761248" y="2958604"/>
                </a:lnTo>
                <a:lnTo>
                  <a:pt x="0" y="2958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050" r="0" b="-105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9394" y="8185785"/>
            <a:ext cx="9280639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Name : Zinzuvadiya Krish Kamleshbhai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Enrollment No. : 23002170210138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Div : C1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Roll No. : 197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Batch : IT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22989" y="5414843"/>
            <a:ext cx="6553869" cy="5576747"/>
          </a:xfrm>
          <a:custGeom>
            <a:avLst/>
            <a:gdLst/>
            <a:ahLst/>
            <a:cxnLst/>
            <a:rect r="r" b="b" t="t" l="l"/>
            <a:pathLst>
              <a:path h="5576747" w="6553869">
                <a:moveTo>
                  <a:pt x="0" y="0"/>
                </a:moveTo>
                <a:lnTo>
                  <a:pt x="6553869" y="0"/>
                </a:lnTo>
                <a:lnTo>
                  <a:pt x="6553869" y="5576747"/>
                </a:lnTo>
                <a:lnTo>
                  <a:pt x="0" y="5576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99234" y="68875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83222" y="8434597"/>
            <a:ext cx="823703" cy="823703"/>
          </a:xfrm>
          <a:custGeom>
            <a:avLst/>
            <a:gdLst/>
            <a:ahLst/>
            <a:cxnLst/>
            <a:rect r="r" b="b" t="t" l="l"/>
            <a:pathLst>
              <a:path h="823703" w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48059" y="2897688"/>
            <a:ext cx="9585350" cy="138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48059" y="4774976"/>
            <a:ext cx="10475116" cy="447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576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Activity Selection Problem is a well-known optimization problem in algorithm design</a:t>
            </a:r>
          </a:p>
          <a:p>
            <a:pPr algn="l" marL="518160" indent="-259080" lvl="1">
              <a:lnSpc>
                <a:spcPts val="3576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It involves selecting the maximum number of activities from a given set</a:t>
            </a:r>
          </a:p>
          <a:p>
            <a:pPr algn="l" marL="518160" indent="-259080" lvl="1">
              <a:lnSpc>
                <a:spcPts val="3576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Each activity is defined by a start time and a finish time</a:t>
            </a:r>
          </a:p>
          <a:p>
            <a:pPr algn="l" marL="518160" indent="-259080" lvl="1">
              <a:lnSpc>
                <a:spcPts val="3576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Only one activity can be performed at a time</a:t>
            </a:r>
          </a:p>
          <a:p>
            <a:pPr algn="l" marL="518160" indent="-259080" lvl="1">
              <a:lnSpc>
                <a:spcPts val="3576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This problem is commonly solved using Greedy Algorithm technique</a:t>
            </a:r>
          </a:p>
          <a:p>
            <a:pPr algn="l" marL="518160" indent="-259080" lvl="1">
              <a:lnSpc>
                <a:spcPts val="3576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It is widely used in scheduling and resource management systems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4504313" y="4348454"/>
            <a:ext cx="9280639" cy="0"/>
          </a:xfrm>
          <a:prstGeom prst="line">
            <a:avLst/>
          </a:prstGeom>
          <a:ln cap="flat" w="19050">
            <a:solidFill>
              <a:srgbClr val="0069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0" y="0"/>
            <a:ext cx="5761248" cy="2958604"/>
          </a:xfrm>
          <a:custGeom>
            <a:avLst/>
            <a:gdLst/>
            <a:ahLst/>
            <a:cxnLst/>
            <a:rect r="r" b="b" t="t" l="l"/>
            <a:pathLst>
              <a:path h="2958604" w="5761248">
                <a:moveTo>
                  <a:pt x="0" y="0"/>
                </a:moveTo>
                <a:lnTo>
                  <a:pt x="5761248" y="0"/>
                </a:lnTo>
                <a:lnTo>
                  <a:pt x="5761248" y="2958604"/>
                </a:lnTo>
                <a:lnTo>
                  <a:pt x="0" y="29586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050" r="0" b="-105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27620" y="1028700"/>
            <a:ext cx="6333399" cy="6333399"/>
          </a:xfrm>
          <a:custGeom>
            <a:avLst/>
            <a:gdLst/>
            <a:ahLst/>
            <a:cxnLst/>
            <a:rect r="r" b="b" t="t" l="l"/>
            <a:pathLst>
              <a:path h="6333399" w="6333399">
                <a:moveTo>
                  <a:pt x="0" y="0"/>
                </a:moveTo>
                <a:lnTo>
                  <a:pt x="6333399" y="0"/>
                </a:lnTo>
                <a:lnTo>
                  <a:pt x="6333399" y="6333399"/>
                </a:lnTo>
                <a:lnTo>
                  <a:pt x="0" y="63333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35597" y="8434597"/>
            <a:ext cx="823703" cy="823703"/>
          </a:xfrm>
          <a:custGeom>
            <a:avLst/>
            <a:gdLst/>
            <a:ahLst/>
            <a:cxnLst/>
            <a:rect r="r" b="b" t="t" l="l"/>
            <a:pathLst>
              <a:path h="823703" w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66372" y="2897688"/>
            <a:ext cx="9585350" cy="138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Greedy Method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20109" y="4893945"/>
            <a:ext cx="9280639" cy="436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Greedy algorithm is an approach that makes the best possible choice at each step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It focuses on selecting locally optimal solutions in order to achieve a global optimal result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It does not reconsider previously selected choices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For the Activity Selection Problem, the greedy strategy selects the activity that finishes earliest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Selecting the earliest finishing activity leaves more time for remaining activities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873847" y="4472171"/>
            <a:ext cx="9280639" cy="0"/>
          </a:xfrm>
          <a:prstGeom prst="line">
            <a:avLst/>
          </a:prstGeom>
          <a:ln cap="flat" w="19050">
            <a:solidFill>
              <a:srgbClr val="0069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5761248" cy="2958604"/>
          </a:xfrm>
          <a:custGeom>
            <a:avLst/>
            <a:gdLst/>
            <a:ahLst/>
            <a:cxnLst/>
            <a:rect r="r" b="b" t="t" l="l"/>
            <a:pathLst>
              <a:path h="2958604" w="5761248">
                <a:moveTo>
                  <a:pt x="0" y="0"/>
                </a:moveTo>
                <a:lnTo>
                  <a:pt x="5761248" y="0"/>
                </a:lnTo>
                <a:lnTo>
                  <a:pt x="5761248" y="2958604"/>
                </a:lnTo>
                <a:lnTo>
                  <a:pt x="0" y="2958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050" r="0" b="-105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66566" y="3492493"/>
            <a:ext cx="9585350" cy="138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Problem Objective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66566" y="5686425"/>
            <a:ext cx="9280639" cy="377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To select the maximum number of activities from the given list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To ensure that selected activities do not overlap in time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To efficiently utilize available time slots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To identify activities that can be performed sequentially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To apply an optimization technique to obtain the best possible solution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To solve the problem using the Greedy Algorithm approach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7266566" y="5153025"/>
            <a:ext cx="9280639" cy="0"/>
          </a:xfrm>
          <a:prstGeom prst="line">
            <a:avLst/>
          </a:prstGeom>
          <a:ln cap="flat" w="19050">
            <a:solidFill>
              <a:srgbClr val="0069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5761248" cy="2958604"/>
          </a:xfrm>
          <a:custGeom>
            <a:avLst/>
            <a:gdLst/>
            <a:ahLst/>
            <a:cxnLst/>
            <a:rect r="r" b="b" t="t" l="l"/>
            <a:pathLst>
              <a:path h="2958604" w="5761248">
                <a:moveTo>
                  <a:pt x="0" y="0"/>
                </a:moveTo>
                <a:lnTo>
                  <a:pt x="5761248" y="0"/>
                </a:lnTo>
                <a:lnTo>
                  <a:pt x="5761248" y="2958604"/>
                </a:lnTo>
                <a:lnTo>
                  <a:pt x="0" y="2958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50" r="0" b="-105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35597" y="8434597"/>
            <a:ext cx="823703" cy="823703"/>
          </a:xfrm>
          <a:custGeom>
            <a:avLst/>
            <a:gdLst/>
            <a:ahLst/>
            <a:cxnLst/>
            <a:rect r="r" b="b" t="t" l="l"/>
            <a:pathLst>
              <a:path h="823703" w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35597" y="8434597"/>
            <a:ext cx="823703" cy="823703"/>
          </a:xfrm>
          <a:custGeom>
            <a:avLst/>
            <a:gdLst/>
            <a:ahLst/>
            <a:cxnLst/>
            <a:rect r="r" b="b" t="t" l="l"/>
            <a:pathLst>
              <a:path h="823703" w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48059" y="2897688"/>
            <a:ext cx="9585350" cy="138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Algorithm Steps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5961" y="5076825"/>
            <a:ext cx="3196081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694C"/>
                </a:solidFill>
                <a:latin typeface="Poppins Bold"/>
                <a:ea typeface="Poppins Bold"/>
                <a:cs typeface="Poppins Bold"/>
                <a:sym typeface="Poppins Bold"/>
              </a:rPr>
              <a:t>Step 1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Arrange all activities in ascending order based on their finish time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4600415" y="4563641"/>
            <a:ext cx="9280639" cy="0"/>
          </a:xfrm>
          <a:prstGeom prst="line">
            <a:avLst/>
          </a:prstGeom>
          <a:ln cap="flat" w="19050">
            <a:solidFill>
              <a:srgbClr val="0069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5761248" cy="2958604"/>
          </a:xfrm>
          <a:custGeom>
            <a:avLst/>
            <a:gdLst/>
            <a:ahLst/>
            <a:cxnLst/>
            <a:rect r="r" b="b" t="t" l="l"/>
            <a:pathLst>
              <a:path h="2958604" w="5761248">
                <a:moveTo>
                  <a:pt x="0" y="0"/>
                </a:moveTo>
                <a:lnTo>
                  <a:pt x="5761248" y="0"/>
                </a:lnTo>
                <a:lnTo>
                  <a:pt x="5761248" y="2958604"/>
                </a:lnTo>
                <a:lnTo>
                  <a:pt x="0" y="2958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50" r="0" b="-105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62617" y="5076825"/>
            <a:ext cx="3196081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694C"/>
                </a:solidFill>
                <a:latin typeface="Poppins Bold"/>
                <a:ea typeface="Poppins Bold"/>
                <a:cs typeface="Poppins Bold"/>
                <a:sym typeface="Poppins Bold"/>
              </a:rPr>
              <a:t>Step 2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Select the first activity from the sorted list as it finishes earliest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49272" y="5076825"/>
            <a:ext cx="3196081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694C"/>
                </a:solidFill>
                <a:latin typeface="Poppins Bold"/>
                <a:ea typeface="Poppins Bold"/>
                <a:cs typeface="Poppins Bold"/>
                <a:sym typeface="Poppins Bold"/>
              </a:rPr>
              <a:t>Step 3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Compare the start time of the next activity with the finish time of the last selected activity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39517" y="5076825"/>
            <a:ext cx="3196081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694C"/>
                </a:solidFill>
                <a:latin typeface="Poppins Bold"/>
                <a:ea typeface="Poppins Bold"/>
                <a:cs typeface="Poppins Bold"/>
                <a:sym typeface="Poppins Bold"/>
              </a:rPr>
              <a:t>Step 4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If the activity is compatible (start time ≥ finish time), select 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02374" y="7943428"/>
            <a:ext cx="3196081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694C"/>
                </a:solidFill>
                <a:latin typeface="Poppins Bold"/>
                <a:ea typeface="Poppins Bold"/>
                <a:cs typeface="Poppins Bold"/>
                <a:sym typeface="Poppins Bold"/>
              </a:rPr>
              <a:t>Step 5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If the activity overlaps, discard 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78262" y="7943428"/>
            <a:ext cx="3196081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694C"/>
                </a:solidFill>
                <a:latin typeface="Poppins Bold"/>
                <a:ea typeface="Poppins Bold"/>
                <a:cs typeface="Poppins Bold"/>
                <a:sym typeface="Poppins Bold"/>
              </a:rPr>
              <a:t>Step 6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Repeat the process until all activities are checked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55418" y="7943428"/>
            <a:ext cx="3196081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694C"/>
                </a:solidFill>
                <a:latin typeface="Poppins Bold"/>
                <a:ea typeface="Poppins Bold"/>
                <a:cs typeface="Poppins Bold"/>
                <a:sym typeface="Poppins Bold"/>
              </a:rPr>
              <a:t>Step 7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Display the selected set of activities as the final optimal solution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223406" y="1986010"/>
            <a:ext cx="7107527" cy="6319238"/>
          </a:xfrm>
          <a:custGeom>
            <a:avLst/>
            <a:gdLst/>
            <a:ahLst/>
            <a:cxnLst/>
            <a:rect r="r" b="b" t="t" l="l"/>
            <a:pathLst>
              <a:path h="6319238" w="7107527">
                <a:moveTo>
                  <a:pt x="7107527" y="0"/>
                </a:moveTo>
                <a:lnTo>
                  <a:pt x="0" y="0"/>
                </a:lnTo>
                <a:lnTo>
                  <a:pt x="0" y="6319238"/>
                </a:lnTo>
                <a:lnTo>
                  <a:pt x="7107527" y="6319238"/>
                </a:lnTo>
                <a:lnTo>
                  <a:pt x="7107527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32098" y="2167772"/>
            <a:ext cx="9610904" cy="138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Applications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62363" y="5043085"/>
            <a:ext cx="389324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500" spc="-35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◉ CPU Scheduling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62363" y="5625549"/>
            <a:ext cx="4028261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Used in operating systems to schedule processes efficiently and maximize CPU utilization.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7062363" y="4127376"/>
            <a:ext cx="9280639" cy="0"/>
          </a:xfrm>
          <a:prstGeom prst="line">
            <a:avLst/>
          </a:prstGeom>
          <a:ln cap="flat" w="19050">
            <a:solidFill>
              <a:srgbClr val="0069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0" y="158825"/>
            <a:ext cx="5761248" cy="2958604"/>
          </a:xfrm>
          <a:custGeom>
            <a:avLst/>
            <a:gdLst/>
            <a:ahLst/>
            <a:cxnLst/>
            <a:rect r="r" b="b" t="t" l="l"/>
            <a:pathLst>
              <a:path h="2958604" w="5761248">
                <a:moveTo>
                  <a:pt x="0" y="0"/>
                </a:moveTo>
                <a:lnTo>
                  <a:pt x="5761248" y="0"/>
                </a:lnTo>
                <a:lnTo>
                  <a:pt x="5761248" y="2958605"/>
                </a:lnTo>
                <a:lnTo>
                  <a:pt x="0" y="2958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50" r="0" b="-105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36712" y="5043085"/>
            <a:ext cx="512258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500" spc="-35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◉ Event Planning and Management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29087" y="5625549"/>
            <a:ext cx="4930213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Helps in organizing events, seminars, or programs by scheduling activities without time conflicts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29869" y="7251149"/>
            <a:ext cx="389324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500" spc="-35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◉ Resource Allocation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29869" y="7832174"/>
            <a:ext cx="4028261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Used in operating systems to schedule processes efficiently and maximize CPU utilization.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36712" y="7251149"/>
            <a:ext cx="469769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500" spc="-35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◉ Network Packet Scheduling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14741" y="7832174"/>
            <a:ext cx="4028261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Used in communication networks to schedule data packet transmission efficiently without collision or delay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435597" y="8434597"/>
            <a:ext cx="823703" cy="823703"/>
          </a:xfrm>
          <a:custGeom>
            <a:avLst/>
            <a:gdLst/>
            <a:ahLst/>
            <a:cxnLst/>
            <a:rect r="r" b="b" t="t" l="l"/>
            <a:pathLst>
              <a:path h="823703" w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93836" y="7555358"/>
            <a:ext cx="3613543" cy="4114800"/>
          </a:xfrm>
          <a:custGeom>
            <a:avLst/>
            <a:gdLst/>
            <a:ahLst/>
            <a:cxnLst/>
            <a:rect r="r" b="b" t="t" l="l"/>
            <a:pathLst>
              <a:path h="4114800" w="3613543">
                <a:moveTo>
                  <a:pt x="0" y="0"/>
                </a:moveTo>
                <a:lnTo>
                  <a:pt x="3613542" y="0"/>
                </a:lnTo>
                <a:lnTo>
                  <a:pt x="3613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95007" y="2165643"/>
            <a:ext cx="15097985" cy="138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Advantages &amp; Disadvantages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80479" y="4117512"/>
            <a:ext cx="4897547" cy="102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942"/>
              </a:lnSpc>
            </a:pPr>
            <a:r>
              <a:rPr lang="en-US" sz="6788" spc="-95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Advantages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7514" y="4117512"/>
            <a:ext cx="5726368" cy="102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942"/>
              </a:lnSpc>
            </a:pPr>
            <a:r>
              <a:rPr lang="en-US" sz="6788" spc="-95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Disadvantages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0479" y="5305425"/>
            <a:ext cx="4897547" cy="21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438" indent="-267219" lvl="1">
              <a:lnSpc>
                <a:spcPts val="4257"/>
              </a:lnSpc>
              <a:buFont typeface="Arial"/>
              <a:buChar char="•"/>
            </a:pPr>
            <a:r>
              <a:rPr lang="en-US" sz="2475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Simple to implement</a:t>
            </a:r>
          </a:p>
          <a:p>
            <a:pPr algn="l" marL="534438" indent="-267219" lvl="1">
              <a:lnSpc>
                <a:spcPts val="4257"/>
              </a:lnSpc>
              <a:buFont typeface="Arial"/>
              <a:buChar char="•"/>
            </a:pPr>
            <a:r>
              <a:rPr lang="en-US" sz="2475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Efficient solution</a:t>
            </a:r>
          </a:p>
          <a:p>
            <a:pPr algn="l" marL="534438" indent="-267219" lvl="1">
              <a:lnSpc>
                <a:spcPts val="4257"/>
              </a:lnSpc>
              <a:buFont typeface="Arial"/>
              <a:buChar char="•"/>
            </a:pPr>
            <a:r>
              <a:rPr lang="en-US" sz="2475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Guarantees optimal result</a:t>
            </a:r>
          </a:p>
          <a:p>
            <a:pPr algn="l" marL="534438" indent="-267219" lvl="1">
              <a:lnSpc>
                <a:spcPts val="4257"/>
              </a:lnSpc>
              <a:buFont typeface="Arial"/>
              <a:buChar char="•"/>
            </a:pPr>
            <a:r>
              <a:rPr lang="en-US" sz="2475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Fast execution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872249" y="-561615"/>
            <a:ext cx="3613543" cy="4114800"/>
          </a:xfrm>
          <a:custGeom>
            <a:avLst/>
            <a:gdLst/>
            <a:ahLst/>
            <a:cxnLst/>
            <a:rect r="r" b="b" t="t" l="l"/>
            <a:pathLst>
              <a:path h="4114800" w="3613543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1795429" y="3794555"/>
            <a:ext cx="14897564" cy="0"/>
          </a:xfrm>
          <a:prstGeom prst="line">
            <a:avLst/>
          </a:prstGeom>
          <a:ln cap="flat" w="19050">
            <a:solidFill>
              <a:srgbClr val="0069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0" y="0"/>
            <a:ext cx="5761248" cy="2958604"/>
          </a:xfrm>
          <a:custGeom>
            <a:avLst/>
            <a:gdLst/>
            <a:ahLst/>
            <a:cxnLst/>
            <a:rect r="r" b="b" t="t" l="l"/>
            <a:pathLst>
              <a:path h="2958604" w="5761248">
                <a:moveTo>
                  <a:pt x="0" y="0"/>
                </a:moveTo>
                <a:lnTo>
                  <a:pt x="5761248" y="0"/>
                </a:lnTo>
                <a:lnTo>
                  <a:pt x="5761248" y="2958604"/>
                </a:lnTo>
                <a:lnTo>
                  <a:pt x="0" y="2958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50" r="0" b="-105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557514" y="5305425"/>
            <a:ext cx="4897547" cy="265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438" indent="-267219" lvl="1">
              <a:lnSpc>
                <a:spcPts val="4257"/>
              </a:lnSpc>
              <a:buFont typeface="Arial"/>
              <a:buChar char="•"/>
            </a:pPr>
            <a:r>
              <a:rPr lang="en-US" sz="2475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Works only for specific problems</a:t>
            </a:r>
          </a:p>
          <a:p>
            <a:pPr algn="l" marL="534438" indent="-267219" lvl="1">
              <a:lnSpc>
                <a:spcPts val="4257"/>
              </a:lnSpc>
              <a:buFont typeface="Arial"/>
              <a:buChar char="•"/>
            </a:pPr>
            <a:r>
              <a:rPr lang="en-US" sz="2475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Cannot solve all optimization problems</a:t>
            </a:r>
          </a:p>
          <a:p>
            <a:pPr algn="l" marL="534438" indent="-267219" lvl="1">
              <a:lnSpc>
                <a:spcPts val="4257"/>
              </a:lnSpc>
              <a:buFont typeface="Arial"/>
              <a:buChar char="•"/>
            </a:pPr>
            <a:r>
              <a:rPr lang="en-US" sz="2475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Requires sorting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435597" y="8434597"/>
            <a:ext cx="823703" cy="823703"/>
          </a:xfrm>
          <a:custGeom>
            <a:avLst/>
            <a:gdLst/>
            <a:ahLst/>
            <a:cxnLst/>
            <a:rect r="r" b="b" t="t" l="l"/>
            <a:pathLst>
              <a:path h="823703" w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86038" y="3799138"/>
            <a:ext cx="12715924" cy="138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THANK YOU</a:t>
            </a: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DAHAb_TtENc</dc:identifier>
  <dcterms:modified xsi:type="dcterms:W3CDTF">2011-08-01T06:04:30Z</dcterms:modified>
  <cp:revision>1</cp:revision>
  <dc:title>Presented by Juliana Silva</dc:title>
</cp:coreProperties>
</file>